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1F497D"/>
                </a:solidFill>
              </a:defRPr>
            </a:pPr>
            <a:r>
              <a:t>Generated Presentation</a:t>
            </a:r>
          </a:p>
        </p:txBody>
      </p:sp>
      <p:sp>
        <p:nvSpPr>
          <p:cNvPr id="3" name="Subtitle 2"/>
          <p:cNvSpPr>
            <a:spLocks noGrp="1"/>
          </p:cNvSpPr>
          <p:nvPr>
            <p:ph type="subTitle" idx="1"/>
          </p:nvPr>
        </p:nvSpPr>
        <p:spPr/>
        <p:txBody>
          <a:bodyPr/>
          <a:lstStyle/>
          <a:p>
            <a:pPr algn="ctr">
              <a:defRPr sz="2400">
                <a:solidFill>
                  <a:srgbClr val="4472C4"/>
                </a:solidFill>
              </a:defRPr>
            </a:pPr>
            <a:r>
              <a:t>Created with Doc2Deck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Artificial Intelligence: An Overview</a:t>
            </a:r>
          </a:p>
        </p:txBody>
      </p:sp>
      <p:sp>
        <p:nvSpPr>
          <p:cNvPr id="3" name="Content Placeholder 2"/>
          <p:cNvSpPr>
            <a:spLocks noGrp="1"/>
          </p:cNvSpPr>
          <p:nvPr>
            <p:ph idx="1"/>
          </p:nvPr>
        </p:nvSpPr>
        <p:spPr/>
        <p:txBody>
          <a:bodyPr lIns="457200" tIns="274320"/>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Artificial Intelligence</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Artificial Intelligence (AI) is one of the newest and most exciting fields in science and engineering, with work beginning in earnest after World War II and the term itself being coined in 1956.</a:t>
            </a:r>
          </a:p>
          <a:p>
            <a:pPr>
              <a:spcAft>
                <a:spcPts val="800"/>
              </a:spcAft>
              <a:defRPr sz="1800">
                <a:solidFill>
                  <a:srgbClr val="595959"/>
                </a:solidFill>
              </a:defRPr>
            </a:pPr>
            <a:r>
              <a:t>AI attempts not just to understand but also to build intelligent entities.</a:t>
            </a:r>
          </a:p>
          <a:p>
            <a:pPr>
              <a:spcAft>
                <a:spcPts val="800"/>
              </a:spcAft>
              <a:defRPr sz="1800">
                <a:solidFill>
                  <a:srgbClr val="595959"/>
                </a:solidFill>
              </a:defRPr>
            </a:pPr>
            <a:r>
              <a:t>The field encompasses a vast range of subfields, from general areas like learning and perception to specific applications such as playing chess, proving mathematical theorems, writing poetry, driving cars on crowded streets, and diagnosing diseases.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Four Approaches to Defining AI</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There are eight definitions of AI that can be categorized along two dimensions: those concerned with thought processes and reasoning versus those addressing behavior, and those measuring success against human performance versus those measuring against an ideal performance standard called rationality.</a:t>
            </a:r>
          </a:p>
          <a:p>
            <a:pPr>
              <a:spcAft>
                <a:spcPts val="800"/>
              </a:spcAft>
              <a:defRPr sz="1800">
                <a:solidFill>
                  <a:srgbClr val="595959"/>
                </a:solidFill>
              </a:defRPr>
            </a:pPr>
            <a:r>
              <a:t>A rational system does the "right thing" given what it knows.</a:t>
            </a:r>
          </a:p>
          <a:p>
            <a:pPr>
              <a:spcAft>
                <a:spcPts val="800"/>
              </a:spcAft>
              <a:defRPr sz="1800">
                <a:solidFill>
                  <a:srgbClr val="595959"/>
                </a:solidFill>
              </a:defRPr>
            </a:pPr>
            <a:r>
              <a:t>Historically, all four approaches have been pursued by different researchers using different methods.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1. Acting Humanly: The Turing Test Approach</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Proposed by Alan Turing in 1950, the Turing Test provides an operational definition of intelligence.</a:t>
            </a:r>
          </a:p>
          <a:p>
            <a:pPr>
              <a:spcAft>
                <a:spcPts val="800"/>
              </a:spcAft>
              <a:defRPr sz="1800">
                <a:solidFill>
                  <a:srgbClr val="595959"/>
                </a:solidFill>
              </a:defRPr>
            </a:pPr>
            <a:r>
              <a:t>A computer passes the test if a human interrogator cannot distinguish between responses from a person and responses from a computer after asking written questions.</a:t>
            </a:r>
          </a:p>
          <a:p>
            <a:pPr>
              <a:spcAft>
                <a:spcPts val="800"/>
              </a:spcAft>
              <a:defRPr sz="1800">
                <a:solidFill>
                  <a:srgbClr val="595959"/>
                </a:solidFill>
              </a:defRPr>
            </a:pPr>
            <a:r>
              <a:t>To pass this test, a computer would need capabilities in natural language processing for communication, knowledge representation to store information, automated reasoning to draw conclusions, and machine learning to adapt and recognize patterns.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2. Thinking Humanly: The Cognitive Modeling Approach</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This approach requires understanding how humans actually think through introspection, psychological experiments, or brain imaging.</a:t>
            </a:r>
          </a:p>
          <a:p>
            <a:pPr>
              <a:spcAft>
                <a:spcPts val="800"/>
              </a:spcAft>
              <a:defRPr sz="1800">
                <a:solidFill>
                  <a:srgbClr val="595959"/>
                </a:solidFill>
              </a:defRPr>
            </a:pPr>
            <a:r>
              <a:t>Once we have precise theories of human cognition, we can express them as computer programs.</a:t>
            </a:r>
          </a:p>
          <a:p>
            <a:pPr>
              <a:spcAft>
                <a:spcPts val="800"/>
              </a:spcAft>
              <a:defRPr sz="1800">
                <a:solidFill>
                  <a:srgbClr val="595959"/>
                </a:solidFill>
              </a:defRPr>
            </a:pPr>
            <a:r>
              <a:t>If a program's input-output behavior matches human behavior, this provides evidence that some of its mechanisms operate similarly in humans.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3. Thinking Rationally: The "Laws of Thought" Approach</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Dating back to Aristotle, this approach attempts to codify correct reasoning processes through logic.</a:t>
            </a:r>
          </a:p>
          <a:p>
            <a:pPr>
              <a:spcAft>
                <a:spcPts val="800"/>
              </a:spcAft>
              <a:defRPr sz="1800">
                <a:solidFill>
                  <a:srgbClr val="595959"/>
                </a:solidFill>
              </a:defRPr>
            </a:pPr>
            <a:r>
              <a:t>By the 19th century, logicians developed precise notation for statements about objects and their relations in the world.</a:t>
            </a:r>
          </a:p>
          <a:p>
            <a:pPr>
              <a:spcAft>
                <a:spcPts val="800"/>
              </a:spcAft>
              <a:defRPr sz="1800">
                <a:solidFill>
                  <a:srgbClr val="595959"/>
                </a:solidFill>
              </a:defRPr>
            </a:pPr>
            <a:r>
              <a:t>By 1965, programs existed that could theoretically solve any solvable problem described in logical notation.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4. Acting Rationally: The Rational Agent Approach</a:t>
            </a:r>
          </a:p>
        </p:txBody>
      </p:sp>
      <p:sp>
        <p:nvSpPr>
          <p:cNvPr id="3" name="Content Placeholder 2"/>
          <p:cNvSpPr>
            <a:spLocks noGrp="1"/>
          </p:cNvSpPr>
          <p:nvPr>
            <p:ph idx="1"/>
          </p:nvPr>
        </p:nvSpPr>
        <p:spPr/>
        <p:txBody>
          <a:bodyPr lIns="457200" tIns="274320"/>
          <a:lstStyle/>
          <a:p>
            <a:pPr>
              <a:spcAft>
                <a:spcPts val="800"/>
              </a:spcAft>
              <a:defRPr sz="1800">
                <a:solidFill>
                  <a:srgbClr val="595959"/>
                </a:solidFill>
              </a:defRPr>
            </a:pPr>
            <a:r>
              <a:t>An agent is something that acts, and a rational agent acts to achieve the best outcome or best expected outcome under uncertainty.</a:t>
            </a:r>
          </a:p>
          <a:p>
            <a:pPr>
              <a:spcAft>
                <a:spcPts val="800"/>
              </a:spcAft>
              <a:defRPr sz="1800">
                <a:solidFill>
                  <a:srgbClr val="595959"/>
                </a:solidFill>
              </a:defRPr>
            </a:pPr>
            <a:r>
              <a:t>This approach is more general than the "laws of thought" approach because correct inference is just one of several mechanisms for achieving rationality.</a:t>
            </a:r>
          </a:p>
          <a:p>
            <a:pPr>
              <a:spcAft>
                <a:spcPts val="800"/>
              </a:spcAft>
              <a:defRPr sz="1800">
                <a:solidFill>
                  <a:srgbClr val="595959"/>
                </a:solidFill>
              </a:defRPr>
            </a:pPr>
            <a:r>
              <a:t>It's also more amenable to scientific development because rationality is mathematically well-defined and completely general, allowing for provably optimal agent designs.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