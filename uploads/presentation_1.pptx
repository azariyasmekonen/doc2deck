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lgn="ctr">
              <a:defRPr sz="4400" b="1">
                <a:solidFill>
                  <a:srgbClr val="1F497D"/>
                </a:solidFill>
              </a:defRPr>
            </a:pPr>
            <a:r>
              <a:t>Generated Presentation</a:t>
            </a:r>
          </a:p>
        </p:txBody>
      </p:sp>
      <p:sp>
        <p:nvSpPr>
          <p:cNvPr id="3" name="Subtitle 2"/>
          <p:cNvSpPr>
            <a:spLocks noGrp="1"/>
          </p:cNvSpPr>
          <p:nvPr>
            <p:ph type="subTitle" idx="1"/>
          </p:nvPr>
        </p:nvSpPr>
        <p:spPr/>
        <p:txBody>
          <a:bodyPr/>
          <a:lstStyle/>
          <a:p>
            <a:pPr algn="ctr">
              <a:defRPr sz="2400">
                <a:solidFill>
                  <a:srgbClr val="4472C4"/>
                </a:solidFill>
              </a:defRPr>
            </a:pPr>
            <a:r>
              <a:t>Created with Doc2Deck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Rofam Academy Secondary School</a:t>
            </a:r>
          </a:p>
        </p:txBody>
      </p:sp>
      <p:sp>
        <p:nvSpPr>
          <p:cNvPr id="3" name="Content Placeholder 2"/>
          <p:cNvSpPr>
            <a:spLocks noGrp="1"/>
          </p:cNvSpPr>
          <p:nvPr>
            <p:ph idx="1"/>
          </p:nvPr>
        </p:nvSpPr>
        <p:spPr/>
        <p:txBody>
          <a:bodyPr lIns="457200" tIns="274320"/>
          <a:lstStyle/>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Citizenship CLASS (Part 1)</a:t>
            </a:r>
          </a:p>
        </p:txBody>
      </p:sp>
      <p:sp>
        <p:nvSpPr>
          <p:cNvPr id="3" name="Content Placeholder 2"/>
          <p:cNvSpPr>
            <a:spLocks noGrp="1"/>
          </p:cNvSpPr>
          <p:nvPr>
            <p:ph idx="1"/>
          </p:nvPr>
        </p:nvSpPr>
        <p:spPr/>
        <p:txBody>
          <a:bodyPr lIns="457200" tIns="274320"/>
          <a:lstStyle/>
          <a:p>
            <a:pPr>
              <a:spcAft>
                <a:spcPts val="1200"/>
              </a:spcAft>
              <a:defRPr sz="2000">
                <a:solidFill>
                  <a:srgbClr val="4472C4"/>
                </a:solidFill>
              </a:defRPr>
            </a:pPr>
            <a:r>
              <a:t>### Group Assignment: The Influence of Culture and Digital Technology</a:t>
            </a:r>
          </a:p>
          <a:p>
            <a:pPr>
              <a:spcAft>
                <a:spcPts val="800"/>
              </a:spcAft>
              <a:defRPr sz="1800">
                <a:solidFill>
                  <a:srgbClr val="595959"/>
                </a:solidFill>
              </a:defRPr>
            </a:pPr>
            <a:r>
              <a:t>#### Group Members and Roll Numbers This assignment was completed by Group 9A, consisting of six members with roll numbers 5, [2], [3], [4], [5], and [6], submitted to the Citizenship department on November 5, 2025.</a:t>
            </a:r>
          </a:p>
          <a:p>
            <a:pPr>
              <a:spcAft>
                <a:spcPts val="800"/>
              </a:spcAft>
              <a:defRPr sz="1800">
                <a:solidFill>
                  <a:srgbClr val="595959"/>
                </a:solidFill>
              </a:defRPr>
            </a:pPr>
            <a:r>
              <a:t>#### Introduction In contemporary societies, culture—defined as the shared beliefs, values, practices, and institutions of groups—and digital technologies—encompassing computing, network infrastructure, platforms, and devices that mediate daily life—interact in complex ways.</a:t>
            </a:r>
          </a:p>
          <a:p>
            <a:pPr>
              <a:spcAft>
                <a:spcPts val="800"/>
              </a:spcAft>
              <a:defRPr sz="1800">
                <a:solidFill>
                  <a:srgbClr val="595959"/>
                </a:solidFill>
              </a:defRPr>
            </a:pPr>
            <a:r>
              <a:t>This interaction fundamentally influences not only what people believe and value, but also how they behave, how they interpret actions as "good" or "bad," and how they make moral judgments.</a:t>
            </a:r>
          </a:p>
          <a:p>
            <a:pPr>
              <a:spcAft>
                <a:spcPts val="800"/>
              </a:spcAft>
              <a:defRPr sz="1800">
                <a:solidFill>
                  <a:srgbClr val="595959"/>
                </a:solidFill>
              </a:defRPr>
            </a:pPr>
            <a:r>
              <a:t>The interplay between culture and digital technology can reshape cognition, social norms, interpersonal relations, and moral frameworks.</a:t>
            </a:r>
          </a:p>
          <a:p>
            <a:pPr>
              <a:spcAft>
                <a:spcPts val="1200"/>
              </a:spcAft>
              <a:defRPr sz="2000">
                <a:solidFill>
                  <a:srgbClr val="4472C4"/>
                </a:solidFill>
              </a:defRPr>
            </a:pPr>
            <a:r>
              <a:t>#### Theoretical and Empirical Foundations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Citizenship CLASS (Part 2)</a:t>
            </a:r>
          </a:p>
        </p:txBody>
      </p:sp>
      <p:sp>
        <p:nvSpPr>
          <p:cNvPr id="3" name="Content Placeholder 2"/>
          <p:cNvSpPr>
            <a:spLocks noGrp="1"/>
          </p:cNvSpPr>
          <p:nvPr>
            <p:ph idx="1"/>
          </p:nvPr>
        </p:nvSpPr>
        <p:spPr/>
        <p:txBody>
          <a:bodyPr lIns="457200" tIns="274320"/>
          <a:lstStyle/>
          <a:p>
            <a:pPr>
              <a:spcAft>
                <a:spcPts val="800"/>
              </a:spcAft>
              <a:defRPr sz="1800">
                <a:solidFill>
                  <a:srgbClr val="595959"/>
                </a:solidFill>
              </a:defRPr>
            </a:pPr>
            <a:r>
              <a:t>##### Culture and Learning Social learning theory, as articulated by Albert Bandura, argues that individuals acquire behaviors by observing and imitating models in their environment, not only through direct reinforcement.</a:t>
            </a:r>
          </a:p>
          <a:p>
            <a:pPr>
              <a:spcAft>
                <a:spcPts val="800"/>
              </a:spcAft>
              <a:defRPr sz="1800">
                <a:solidFill>
                  <a:srgbClr val="595959"/>
                </a:solidFill>
              </a:defRPr>
            </a:pPr>
            <a:r>
              <a:t>Culture provides models, norms, and shared meanings that shape what is imitated and valued.</a:t>
            </a:r>
          </a:p>
          <a:p>
            <a:pPr>
              <a:spcAft>
                <a:spcPts val="800"/>
              </a:spcAft>
              <a:defRPr sz="1800">
                <a:solidFill>
                  <a:srgbClr val="595959"/>
                </a:solidFill>
              </a:defRPr>
            </a:pPr>
            <a:r>
              <a:t>Cultural-transmission theory emphasizes how practices, beliefs, and norms persist across generations, even when the original reasons for them are no longer present, as seen in rituals.</a:t>
            </a:r>
          </a:p>
          <a:p>
            <a:pPr>
              <a:spcAft>
                <a:spcPts val="800"/>
              </a:spcAft>
              <a:defRPr sz="1800">
                <a:solidFill>
                  <a:srgbClr val="595959"/>
                </a:solidFill>
              </a:defRPr>
            </a:pPr>
            <a:r>
              <a:t>##### Digital Technology and Society The field of science and technology studies (STS) proposes the "mutual shaping" model: technology shapes society and society shapes technology.</a:t>
            </a:r>
          </a:p>
          <a:p>
            <a:pPr>
              <a:spcAft>
                <a:spcPts val="800"/>
              </a:spcAft>
              <a:defRPr sz="1800">
                <a:solidFill>
                  <a:srgbClr val="595959"/>
                </a:solidFill>
              </a:defRPr>
            </a:pPr>
            <a:r>
              <a:t>Platform/media theory emphasizes how the medium affects communication, attention, cognition, and social relations, as social media platforms provide new affordances.</a:t>
            </a:r>
          </a:p>
          <a:p>
            <a:pPr>
              <a:spcAft>
                <a:spcPts val="800"/>
              </a:spcAft>
              <a:defRPr sz="1800">
                <a:solidFill>
                  <a:srgbClr val="595959"/>
                </a:solidFill>
              </a:defRPr>
            </a:pPr>
            <a:r>
              <a:t>Empirical reviews demonstrate that digital technologies reshape cognition (attention, memory), behavior (digital interventions for change), organizational culture (digital culture), and workplace well-being (remote work, digital fatigue).</a:t>
            </a:r>
          </a:p>
          <a:p>
            <a:pPr>
              <a:spcAft>
                <a:spcPts val="800"/>
              </a:spcAft>
              <a:defRPr sz="1800">
                <a:solidFill>
                  <a:srgbClr val="595959"/>
                </a:solidFill>
              </a:defRPr>
            </a:pPr>
            <a:r>
              <a:t>##### Integration: Culture + Digital Technology Cultural values shape how technology is used, interpreted, and integrated; technologies do not produce identical effects everywhere.</a:t>
            </a:r>
          </a:p>
          <a:p>
            <a:pPr>
              <a:spcAft>
                <a:spcPts val="800"/>
              </a:spcAft>
              <a:defRPr sz="1800">
                <a:solidFill>
                  <a:srgbClr val="595959"/>
                </a:solidFill>
              </a:defRPr>
            </a:pPr>
            <a:r>
              <a:t>Conversely, digital technologies reshape cultural practices, including how people communicate, what counts as knowledge, what counts as credible, and what behaviors are visible and thus normative.</a:t>
            </a:r>
          </a:p>
          <a:p>
            <a:pPr>
              <a:spcAft>
                <a:spcPts val="800"/>
              </a:spcAft>
              <a:defRPr sz="1800">
                <a:solidFill>
                  <a:srgbClr val="595959"/>
                </a:solidFill>
              </a:defRPr>
            </a:pPr>
            <a:r>
              <a:t>Therefore, to understand how attitudes, behaviors, and moral understanding shift, one must analyze both cultural context and technological affordances and incentives.</a:t>
            </a:r>
          </a:p>
          <a:p>
            <a:pPr>
              <a:spcAft>
                <a:spcPts val="1200"/>
              </a:spcAft>
              <a:defRPr sz="2000">
                <a:solidFill>
                  <a:srgbClr val="4472C4"/>
                </a:solidFill>
              </a:defRPr>
            </a:pPr>
            <a:r>
              <a:t>#### Key Mechanisms of Influence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Citizenship CLASS (Part 3)</a:t>
            </a:r>
          </a:p>
        </p:txBody>
      </p:sp>
      <p:sp>
        <p:nvSpPr>
          <p:cNvPr id="3" name="Content Placeholder 2"/>
          <p:cNvSpPr>
            <a:spLocks noGrp="1"/>
          </p:cNvSpPr>
          <p:nvPr>
            <p:ph idx="1"/>
          </p:nvPr>
        </p:nvSpPr>
        <p:spPr/>
        <p:txBody>
          <a:bodyPr lIns="457200" tIns="274320"/>
          <a:lstStyle/>
          <a:p>
            <a:pPr>
              <a:spcAft>
                <a:spcPts val="800"/>
              </a:spcAft>
              <a:defRPr sz="1800">
                <a:solidFill>
                  <a:srgbClr val="595959"/>
                </a:solidFill>
              </a:defRPr>
            </a:pPr>
            <a:r>
              <a:t>##### Attention and Cognitive Structures Digital devices and platforms restructure attention, such as through notification culture and multiscreen use, and memory, through externalizing memory to devices.</a:t>
            </a:r>
          </a:p>
          <a:p>
            <a:pPr>
              <a:spcAft>
                <a:spcPts val="800"/>
              </a:spcAft>
              <a:defRPr sz="1800">
                <a:solidFill>
                  <a:srgbClr val="595959"/>
                </a:solidFill>
              </a:defRPr>
            </a:pPr>
            <a:r>
              <a:t>This shifts how people process information, make decisions, and form beliefs about what is important.</a:t>
            </a:r>
          </a:p>
          <a:p>
            <a:pPr>
              <a:spcAft>
                <a:spcPts val="800"/>
              </a:spcAft>
              <a:defRPr sz="1800">
                <a:solidFill>
                  <a:srgbClr val="595959"/>
                </a:solidFill>
              </a:defRPr>
            </a:pPr>
            <a:r>
              <a:t>For example, young people using smartphones may develop more rapid-switching attention and less sustained reflection.</a:t>
            </a:r>
          </a:p>
          <a:p>
            <a:pPr>
              <a:spcAft>
                <a:spcPts val="800"/>
              </a:spcAft>
              <a:defRPr sz="1800">
                <a:solidFill>
                  <a:srgbClr val="595959"/>
                </a:solidFill>
              </a:defRPr>
            </a:pPr>
            <a:r>
              <a:t>##### Information Exposure and Selection (Algorithms, Filter Bubbles) Algorithmic recommender systems select and prioritize content, shaping what information people see, what viewpoints they are exposed to, and thus what beliefs they form.</a:t>
            </a:r>
          </a:p>
          <a:p>
            <a:pPr>
              <a:spcAft>
                <a:spcPts val="800"/>
              </a:spcAft>
              <a:defRPr sz="1800">
                <a:solidFill>
                  <a:srgbClr val="595959"/>
                </a:solidFill>
              </a:defRPr>
            </a:pPr>
            <a:r>
              <a:t>Echo chambers and filter bubbles reinforce existing attitudes, reduce exposure to alternative views, and thus influence moral beliefs about what is "right" or "wrong." Empirical support indicates that digital interventions for behavior change find that design and context matter greatly.</a:t>
            </a:r>
          </a:p>
          <a:p>
            <a:pPr>
              <a:spcAft>
                <a:spcPts val="800"/>
              </a:spcAft>
              <a:defRPr sz="1800">
                <a:solidFill>
                  <a:srgbClr val="595959"/>
                </a:solidFill>
              </a:defRPr>
            </a:pPr>
            <a:r>
              <a:t>##### Visibility of Behavior and Reputational Incentives On digital platforms, actions are visible through likes, shares, and comment threads.</a:t>
            </a:r>
          </a:p>
          <a:p>
            <a:pPr>
              <a:spcAft>
                <a:spcPts val="800"/>
              </a:spcAft>
              <a:defRPr sz="1800">
                <a:solidFill>
                  <a:srgbClr val="595959"/>
                </a:solidFill>
              </a:defRPr>
            </a:pPr>
            <a:r>
              <a:t>Social feedback provides individuals with rewards for conforming to emergent norms, thereby shaping behavior.</a:t>
            </a:r>
          </a:p>
          <a:p>
            <a:pPr>
              <a:spcAft>
                <a:spcPts val="800"/>
              </a:spcAft>
              <a:defRPr sz="1800">
                <a:solidFill>
                  <a:srgbClr val="595959"/>
                </a:solidFill>
              </a:defRPr>
            </a:pPr>
            <a:r>
              <a:t>Thus, behavior that is publicly rewarded becomes normative; moral signaling becomes a form of currency.</a:t>
            </a:r>
          </a:p>
          <a:p>
            <a:pPr>
              <a:spcAft>
                <a:spcPts val="800"/>
              </a:spcAft>
              <a:defRPr sz="1800">
                <a:solidFill>
                  <a:srgbClr val="595959"/>
                </a:solidFill>
              </a:defRPr>
            </a:pPr>
            <a:r>
              <a:t>##### Affordances and New Possibilities for Action Digital tools create new modes of interaction, including social media, mobile communication, and remote work, that change possibilities for behavior, leisure, learning, and moral action, such as activism and sharing.</a:t>
            </a:r>
          </a:p>
          <a:p>
            <a:pPr>
              <a:spcAft>
                <a:spcPts val="800"/>
              </a:spcAft>
              <a:defRPr sz="1800">
                <a:solidFill>
                  <a:srgbClr val="595959"/>
                </a:solidFill>
              </a:defRPr>
            </a:pPr>
            <a:r>
              <a:t>This also changes cultural practices, including how families interact, how children learn, and how communities form.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Citizenship CLASS (Part 4)</a:t>
            </a:r>
          </a:p>
        </p:txBody>
      </p:sp>
      <p:sp>
        <p:nvSpPr>
          <p:cNvPr id="3" name="Content Placeholder 2"/>
          <p:cNvSpPr>
            <a:spLocks noGrp="1"/>
          </p:cNvSpPr>
          <p:nvPr>
            <p:ph idx="1"/>
          </p:nvPr>
        </p:nvSpPr>
        <p:spPr/>
        <p:txBody>
          <a:bodyPr lIns="457200" tIns="274320"/>
          <a:lstStyle/>
          <a:p>
            <a:pPr>
              <a:spcAft>
                <a:spcPts val="800"/>
              </a:spcAft>
              <a:defRPr sz="1800">
                <a:solidFill>
                  <a:srgbClr val="595959"/>
                </a:solidFill>
              </a:defRPr>
            </a:pPr>
            <a:r>
              <a:t>##### Institutional Shift and Normative Framing Digital platforms become new institutions, including news, social organization, and commerce.</a:t>
            </a:r>
          </a:p>
          <a:p>
            <a:pPr>
              <a:spcAft>
                <a:spcPts val="800"/>
              </a:spcAft>
              <a:defRPr sz="1800">
                <a:solidFill>
                  <a:srgbClr val="595959"/>
                </a:solidFill>
              </a:defRPr>
            </a:pPr>
            <a:r>
              <a:t>These platforms' affordances and governance shape cultural norms, information flows, and moral framings.</a:t>
            </a:r>
          </a:p>
          <a:p>
            <a:pPr>
              <a:spcAft>
                <a:spcPts val="800"/>
              </a:spcAft>
              <a:defRPr sz="1800">
                <a:solidFill>
                  <a:srgbClr val="595959"/>
                </a:solidFill>
              </a:defRPr>
            </a:pPr>
            <a:r>
              <a:t>Traditional gatekeepers, such as publishers, universities, and churches, lose exclusive power; new norms, values, and belief systems emerge via digital networks.</a:t>
            </a:r>
          </a:p>
          <a:p>
            <a:pPr>
              <a:spcAft>
                <a:spcPts val="800"/>
              </a:spcAft>
              <a:defRPr sz="1800">
                <a:solidFill>
                  <a:srgbClr val="595959"/>
                </a:solidFill>
              </a:defRPr>
            </a:pPr>
            <a:r>
              <a:t>##### Cultural Variation in Adoption and Meaning Use and interpretation of digital technologies vary by culture.</a:t>
            </a:r>
          </a:p>
          <a:p>
            <a:pPr>
              <a:spcAft>
                <a:spcPts val="800"/>
              </a:spcAft>
              <a:defRPr sz="1800">
                <a:solidFill>
                  <a:srgbClr val="595959"/>
                </a:solidFill>
              </a:defRPr>
            </a:pPr>
            <a:r>
              <a:t>Cultural dimensions, such as trust and collectivism versus individualism, modify how people adopt and integrate technology into moral frameworks.</a:t>
            </a:r>
          </a:p>
          <a:p>
            <a:pPr>
              <a:spcAft>
                <a:spcPts val="800"/>
              </a:spcAft>
              <a:defRPr sz="1800">
                <a:solidFill>
                  <a:srgbClr val="595959"/>
                </a:solidFill>
              </a:defRPr>
            </a:pPr>
            <a:r>
              <a:t>For example, a cross-cultural study of online behavior showed significant differences in perceived risk and trust depending on culture.</a:t>
            </a:r>
          </a:p>
          <a:p>
            <a:pPr>
              <a:spcAft>
                <a:spcPts val="1200"/>
              </a:spcAft>
              <a:defRPr sz="2000">
                <a:solidFill>
                  <a:srgbClr val="4472C4"/>
                </a:solidFill>
              </a:defRPr>
            </a:pPr>
            <a:r>
              <a:t>#### Case Studies</a:t>
            </a:r>
          </a:p>
          <a:p>
            <a:pPr>
              <a:spcAft>
                <a:spcPts val="800"/>
              </a:spcAft>
              <a:defRPr sz="1800">
                <a:solidFill>
                  <a:srgbClr val="595959"/>
                </a:solidFill>
              </a:defRPr>
            </a:pPr>
            <a:r>
              <a:t>##### Case 1: The "Five Monkeys" Parable (Group Norms and Conformity) In a quiet laboratory decades ago, scientists conducted a peculiar experiment.</a:t>
            </a:r>
          </a:p>
          <a:p>
            <a:pPr>
              <a:spcAft>
                <a:spcPts val="800"/>
              </a:spcAft>
              <a:defRPr sz="1800">
                <a:solidFill>
                  <a:srgbClr val="595959"/>
                </a:solidFill>
              </a:defRPr>
            </a:pPr>
            <a:r>
              <a:t>Inside a cage, they placed five monkeys, a ladder, and at the top, a bunch of fresh bananas.</a:t>
            </a:r>
          </a:p>
          <a:p>
            <a:pPr>
              <a:spcAft>
                <a:spcPts val="800"/>
              </a:spcAft>
              <a:defRPr sz="1800">
                <a:solidFill>
                  <a:srgbClr val="595959"/>
                </a:solidFill>
              </a:defRPr>
            </a:pPr>
            <a:r>
              <a:t>Naturally, one monkey climbed the ladder to grab a banana.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Citizenship CLASS (Part 5)</a:t>
            </a:r>
          </a:p>
        </p:txBody>
      </p:sp>
      <p:sp>
        <p:nvSpPr>
          <p:cNvPr id="3" name="Content Placeholder 2"/>
          <p:cNvSpPr>
            <a:spLocks noGrp="1"/>
          </p:cNvSpPr>
          <p:nvPr>
            <p:ph idx="1"/>
          </p:nvPr>
        </p:nvSpPr>
        <p:spPr/>
        <p:txBody>
          <a:bodyPr lIns="457200" tIns="274320"/>
          <a:lstStyle/>
          <a:p>
            <a:pPr>
              <a:spcAft>
                <a:spcPts val="800"/>
              </a:spcAft>
              <a:defRPr sz="1800">
                <a:solidFill>
                  <a:srgbClr val="595959"/>
                </a:solidFill>
              </a:defRPr>
            </a:pPr>
            <a:r>
              <a:t>##### Case 2: The Dark Ages (Cultural Stagnation and the Power of Ideology) Following the fall of the Roman Empire, much of Europe entered what historians call the Dark Ages, approximately the 5th to 10th centuries CE.</a:t>
            </a:r>
          </a:p>
          <a:p>
            <a:pPr>
              <a:spcAft>
                <a:spcPts val="800"/>
              </a:spcAft>
              <a:defRPr sz="1800">
                <a:solidFill>
                  <a:srgbClr val="595959"/>
                </a:solidFill>
              </a:defRPr>
            </a:pPr>
            <a:r>
              <a:t>During this period, scientific inquiry and intellectual exploration declined, while religious dogma and centralized authority defined moral and intellectual life.</a:t>
            </a:r>
          </a:p>
          <a:p>
            <a:pPr>
              <a:spcAft>
                <a:spcPts val="800"/>
              </a:spcAft>
              <a:defRPr sz="1800">
                <a:solidFill>
                  <a:srgbClr val="595959"/>
                </a:solidFill>
              </a:defRPr>
            </a:pPr>
            <a:r>
              <a:t>The Church became the central institution controlling education, knowledge, and moral interpretation.</a:t>
            </a:r>
          </a:p>
          <a:p>
            <a:pPr>
              <a:spcAft>
                <a:spcPts val="800"/>
              </a:spcAft>
              <a:defRPr sz="1800">
                <a:solidFill>
                  <a:srgbClr val="595959"/>
                </a:solidFill>
              </a:defRPr>
            </a:pPr>
            <a:r>
              <a:t>##### Case 3: The Digital Era (Algorithms, Attention, and Moral Fragmentation) In the 21st century, digital technology and social media have redefined how humans construct their identities, moral beliefs, and social relations.</a:t>
            </a:r>
          </a:p>
          <a:p>
            <a:pPr>
              <a:spcAft>
                <a:spcPts val="800"/>
              </a:spcAft>
              <a:defRPr sz="1800">
                <a:solidFill>
                  <a:srgbClr val="595959"/>
                </a:solidFill>
              </a:defRPr>
            </a:pPr>
            <a:r>
              <a:t>Platforms like Instagram, TikTok, and X (Twitter) operate on algorithmic reinforcement loops that prioritize engagement over truth.</a:t>
            </a:r>
          </a:p>
          <a:p>
            <a:pPr>
              <a:spcAft>
                <a:spcPts val="800"/>
              </a:spcAft>
              <a:defRPr sz="1800">
                <a:solidFill>
                  <a:srgbClr val="595959"/>
                </a:solidFill>
              </a:defRPr>
            </a:pPr>
            <a:r>
              <a:t>This design has led to what scholars call "digital tribalism": the clustering of individuals into echo chambers that amplify their existing beliefs.</a:t>
            </a:r>
          </a:p>
          <a:p>
            <a:pPr>
              <a:spcAft>
                <a:spcPts val="1200"/>
              </a:spcAft>
              <a:defRPr sz="2000">
                <a:solidFill>
                  <a:srgbClr val="4472C4"/>
                </a:solidFill>
              </a:defRPr>
            </a:pPr>
            <a:r>
              <a:t>#### How Attitudes, Beliefs, Behavior, and Morality Are Affected</a:t>
            </a:r>
          </a:p>
          <a:p>
            <a:pPr>
              <a:spcAft>
                <a:spcPts val="800"/>
              </a:spcAft>
              <a:defRPr sz="1800">
                <a:solidFill>
                  <a:srgbClr val="595959"/>
                </a:solidFill>
              </a:defRPr>
            </a:pPr>
            <a:r>
              <a:t>##### Attitudes and Beliefs Exposure to digital content shapes beliefs about what is true, credible, and authoritative.</a:t>
            </a:r>
          </a:p>
          <a:p>
            <a:pPr>
              <a:spcAft>
                <a:spcPts val="800"/>
              </a:spcAft>
              <a:defRPr sz="1800">
                <a:solidFill>
                  <a:srgbClr val="595959"/>
                </a:solidFill>
              </a:defRPr>
            </a:pPr>
            <a:r>
              <a:t>Algorithmic selection may reinforce confirmation bias, reducing openness to alternative views.</a:t>
            </a:r>
          </a:p>
          <a:p>
            <a:pPr>
              <a:spcAft>
                <a:spcPts val="800"/>
              </a:spcAft>
              <a:defRPr sz="1800">
                <a:solidFill>
                  <a:srgbClr val="595959"/>
                </a:solidFill>
              </a:defRPr>
            </a:pPr>
            <a:r>
              <a:t>Cultural context mediates how technology is understood and used; for instance, trust in online systems differs across cultures, affecting adoption and beliefs about technology's role.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Citizenship CLASS (Part 6)</a:t>
            </a:r>
          </a:p>
        </p:txBody>
      </p:sp>
      <p:sp>
        <p:nvSpPr>
          <p:cNvPr id="3" name="Content Placeholder 2"/>
          <p:cNvSpPr>
            <a:spLocks noGrp="1"/>
          </p:cNvSpPr>
          <p:nvPr>
            <p:ph idx="1"/>
          </p:nvPr>
        </p:nvSpPr>
        <p:spPr/>
        <p:txBody>
          <a:bodyPr lIns="457200" tIns="274320"/>
          <a:lstStyle/>
          <a:p>
            <a:pPr>
              <a:spcAft>
                <a:spcPts val="800"/>
              </a:spcAft>
              <a:defRPr sz="1800">
                <a:solidFill>
                  <a:srgbClr val="595959"/>
                </a:solidFill>
              </a:defRPr>
            </a:pPr>
            <a:r>
              <a:t>##### Behavior Social norms: Digital platforms accelerate the formation of behavioral norms, such as viral challenges, sharing norms, and hashtag activism.</a:t>
            </a:r>
          </a:p>
          <a:p>
            <a:pPr>
              <a:spcAft>
                <a:spcPts val="800"/>
              </a:spcAft>
              <a:defRPr sz="1800">
                <a:solidFill>
                  <a:srgbClr val="595959"/>
                </a:solidFill>
              </a:defRPr>
            </a:pPr>
            <a:r>
              <a:t>Behavior that is socially visible becomes more widely adopted.</a:t>
            </a:r>
          </a:p>
          <a:p>
            <a:pPr>
              <a:spcAft>
                <a:spcPts val="800"/>
              </a:spcAft>
              <a:defRPr sz="1800">
                <a:solidFill>
                  <a:srgbClr val="595959"/>
                </a:solidFill>
              </a:defRPr>
            </a:pPr>
            <a:r>
              <a:t>Habit and attention structure: Smartphones and apps produce habits, such as checking feeds and responding to notifications.</a:t>
            </a:r>
          </a:p>
          <a:p>
            <a:pPr>
              <a:spcAft>
                <a:spcPts val="800"/>
              </a:spcAft>
              <a:defRPr sz="1800">
                <a:solidFill>
                  <a:srgbClr val="595959"/>
                </a:solidFill>
              </a:defRPr>
            </a:pPr>
            <a:r>
              <a:t>##### Moral Understanding (Good vs Bad) Visibility and publicness matter: In digital spaces, behaviors are more visible, subject to peer judgment, shaming, and reputation effects.</a:t>
            </a:r>
          </a:p>
          <a:p>
            <a:pPr>
              <a:spcAft>
                <a:spcPts val="800"/>
              </a:spcAft>
              <a:defRPr sz="1800">
                <a:solidFill>
                  <a:srgbClr val="595959"/>
                </a:solidFill>
              </a:defRPr>
            </a:pPr>
            <a:r>
              <a:t>What is "good" may be defined by platform norms rather than traditional moral authorities.</a:t>
            </a:r>
          </a:p>
          <a:p>
            <a:pPr>
              <a:spcAft>
                <a:spcPts val="800"/>
              </a:spcAft>
              <a:defRPr sz="1800">
                <a:solidFill>
                  <a:srgbClr val="595959"/>
                </a:solidFill>
              </a:defRPr>
            </a:pPr>
            <a:r>
              <a:t>Cultural variation: Because digital platforms are global, moral frameworks from different cultures interact.</a:t>
            </a:r>
          </a:p>
          <a:p>
            <a:pPr>
              <a:spcAft>
                <a:spcPts val="1200"/>
              </a:spcAft>
              <a:defRPr sz="2000">
                <a:solidFill>
                  <a:srgbClr val="4472C4"/>
                </a:solidFill>
              </a:defRPr>
            </a:pPr>
            <a:r>
              <a:t>#### Implications and Challenges</a:t>
            </a:r>
          </a:p>
          <a:p>
            <a:pPr>
              <a:spcAft>
                <a:spcPts val="800"/>
              </a:spcAft>
              <a:defRPr sz="1800">
                <a:solidFill>
                  <a:srgbClr val="595959"/>
                </a:solidFill>
              </a:defRPr>
            </a:pPr>
            <a:r>
              <a:t>##### Design and Governance If digital platforms shape moral behavior, their design, including algorithms, visibility tools, and reward mechanisms, carries ethical weight.</a:t>
            </a:r>
          </a:p>
          <a:p>
            <a:pPr>
              <a:spcAft>
                <a:spcPts val="800"/>
              </a:spcAft>
              <a:defRPr sz="1800">
                <a:solidFill>
                  <a:srgbClr val="595959"/>
                </a:solidFill>
              </a:defRPr>
            </a:pPr>
            <a:r>
              <a:t>Designers become normative actors.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Citizenship CLASS (Part 7)</a:t>
            </a:r>
          </a:p>
        </p:txBody>
      </p:sp>
      <p:sp>
        <p:nvSpPr>
          <p:cNvPr id="3" name="Content Placeholder 2"/>
          <p:cNvSpPr>
            <a:spLocks noGrp="1"/>
          </p:cNvSpPr>
          <p:nvPr>
            <p:ph idx="1"/>
          </p:nvPr>
        </p:nvSpPr>
        <p:spPr/>
        <p:txBody>
          <a:bodyPr lIns="457200" tIns="274320"/>
          <a:lstStyle/>
          <a:p>
            <a:pPr>
              <a:spcAft>
                <a:spcPts val="1000"/>
              </a:spcAft>
              <a:defRPr sz="1800">
                <a:solidFill>
                  <a:srgbClr val="595959"/>
                </a:solidFill>
              </a:defRPr>
            </a:pPr>
            <a:r>
              <a:t>##### Digital Literacy and Critical Thinking Users must develop skills to navigate information, recognize biases, and reflect on moral choices rather than simply follow visible norms.</a:t>
            </a:r>
          </a:p>
          <a:p>
            <a:pPr>
              <a:spcAft>
                <a:spcPts val="800"/>
              </a:spcAft>
              <a:defRPr sz="1800">
                <a:solidFill>
                  <a:srgbClr val="595959"/>
                </a:solidFill>
              </a:defRPr>
            </a:pPr>
            <a:r>
              <a:t>##### Cultural Sensitivity and Adaptation Technologies must be adapted to cultural contexts; one size fits all risks ignoring cultural values and may create alienation or unintended consequences.</a:t>
            </a:r>
          </a:p>
          <a:p>
            <a:pPr>
              <a:spcAft>
                <a:spcPts val="800"/>
              </a:spcAft>
              <a:defRPr sz="1800">
                <a:solidFill>
                  <a:srgbClr val="595959"/>
                </a:solidFill>
              </a:defRPr>
            </a:pPr>
            <a:r>
              <a:t>Cross-cultural studies, such as online purchase behavior, show culture strongly influences digital adoption and risk and trust perceptions.</a:t>
            </a:r>
          </a:p>
          <a:p>
            <a:pPr>
              <a:spcAft>
                <a:spcPts val="1000"/>
              </a:spcAft>
              <a:defRPr sz="1800">
                <a:solidFill>
                  <a:srgbClr val="595959"/>
                </a:solidFill>
              </a:defRPr>
            </a:pPr>
            <a:r>
              <a:t>##### Moral Pluralism Global digital culture supports diverse moral views; societies must address how to mediate conflicts between digital-native norms and local cultural and moral frameworks.</a:t>
            </a:r>
          </a:p>
          <a:p>
            <a:pPr>
              <a:spcAft>
                <a:spcPts val="800"/>
              </a:spcAft>
              <a:defRPr sz="1800">
                <a:solidFill>
                  <a:srgbClr val="595959"/>
                </a:solidFill>
              </a:defRPr>
            </a:pPr>
            <a:r>
              <a:t>##### Well-being and Moral Overload Constant connectivity and exposure to moral issues via platforms, such as social media activism and outrage cycles, can create moral fatigue.</a:t>
            </a:r>
          </a:p>
          <a:p>
            <a:pPr>
              <a:spcAft>
                <a:spcPts val="800"/>
              </a:spcAft>
              <a:defRPr sz="1800">
                <a:solidFill>
                  <a:srgbClr val="595959"/>
                </a:solidFill>
              </a:defRPr>
            </a:pPr>
            <a:r>
              <a:t>Studies of remote work show digital demands can impair well-being.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Citizenship CLASS (Part 8)</a:t>
            </a:r>
          </a:p>
        </p:txBody>
      </p:sp>
      <p:sp>
        <p:nvSpPr>
          <p:cNvPr id="3" name="Content Placeholder 2"/>
          <p:cNvSpPr>
            <a:spLocks noGrp="1"/>
          </p:cNvSpPr>
          <p:nvPr>
            <p:ph idx="1"/>
          </p:nvPr>
        </p:nvSpPr>
        <p:spPr/>
        <p:txBody>
          <a:bodyPr lIns="457200" tIns="274320"/>
          <a:lstStyle/>
          <a:p>
            <a:pPr>
              <a:spcAft>
                <a:spcPts val="1000"/>
              </a:spcAft>
              <a:defRPr sz="1800">
                <a:solidFill>
                  <a:srgbClr val="595959"/>
                </a:solidFill>
              </a:defRPr>
            </a:pPr>
            <a:r>
              <a:t>##### Institutional Legitimacy As digital platforms become powerful actors in shaping culture and norms, questions arise about legitimacy, accountability, and governance of digital moral spaces.</a:t>
            </a:r>
          </a:p>
          <a:p>
            <a:pPr>
              <a:spcAft>
                <a:spcPts val="800"/>
              </a:spcAft>
              <a:defRPr sz="1800">
                <a:solidFill>
                  <a:srgbClr val="595959"/>
                </a:solidFill>
              </a:defRPr>
            </a:pPr>
            <a:r>
              <a:t>#### Conclusion Culture and digital technology are not independent; they co-produce each other.</a:t>
            </a:r>
          </a:p>
          <a:p>
            <a:pPr>
              <a:spcAft>
                <a:spcPts val="800"/>
              </a:spcAft>
              <a:defRPr sz="1800">
                <a:solidFill>
                  <a:srgbClr val="595959"/>
                </a:solidFill>
              </a:defRPr>
            </a:pPr>
            <a:r>
              <a:t>Technology offers new affordances, changes attention, exposure, social visibility, and institutional structures; culture gives meaning, norms, values, and interpretative frameworks.</a:t>
            </a:r>
          </a:p>
          <a:p>
            <a:pPr>
              <a:spcAft>
                <a:spcPts val="800"/>
              </a:spcAft>
              <a:defRPr sz="1800">
                <a:solidFill>
                  <a:srgbClr val="595959"/>
                </a:solidFill>
              </a:defRPr>
            </a:pPr>
            <a:r>
              <a:t>Together, they shape what people believe, how they act, how they understand right and wrong, and how societies evolve.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